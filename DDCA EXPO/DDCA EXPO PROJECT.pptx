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AEF8549-15C9-652A-585D-18F871F91A60}">
          <p14:sldIdLst>
            <p14:sldId id="256"/>
          </p14:sldIdLst>
        </p14:section>
        <p14:section name="Introduction" id="{42699921-D414-7D9E-BECB-3DD83AC41B80}">
          <p14:sldIdLst>
            <p14:sldId id="257"/>
          </p14:sldIdLst>
        </p14:section>
        <p14:section name="Latches and Flip-Flops" id="{3000278F-EF8C-1E6A-9CDA-FDAF07979C95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Triggering" id="{30763CC0-B37B-95A9-7295-39ABED76D6C2}">
          <p14:sldIdLst>
            <p14:sldId id="266"/>
          </p14:sldIdLst>
        </p14:section>
        <p14:section name="Wrap-up" id="{8F487CD3-FAD0-B1A5-5A16-15AC57EBF32B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56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5FF939-F95A-4BBF-591A-334E8BEF6C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19338-E42B-4D49-E834-82BE9740E7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E168C-D46D-486C-AD7E-EC2138612957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BBBA2-0572-5EFB-BB5C-644C078687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5ACAB-7B32-489E-869F-7D41E3AF7A8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41A6E-197D-DABF-24E8-DADA512ED4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8423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63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 latch is level-sensitive. Flip-flops are edge-triggered, so they sample inputs only on a clock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Digital Logic Design  |  Latches &amp; Flip-Flops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D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DDCA|  Latches &amp; Flip-Flops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"/>
          <p:cNvSpPr/>
          <p:nvPr/>
        </p:nvSpPr>
        <p:spPr>
          <a:xfrm>
            <a:off x="-1097280" y="3108960"/>
            <a:ext cx="3291840" cy="32918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3" name="Decor Circle 2"/>
          <p:cNvSpPr/>
          <p:nvPr/>
        </p:nvSpPr>
        <p:spPr>
          <a:xfrm>
            <a:off x="3108960" y="-914400"/>
            <a:ext cx="2194560" cy="219456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accent2">
                <a:alpha val="1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DIGITAL LOGIC DESIGN  ·  FINAL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of SR Latch, D, JK &amp; T Flip-Flops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FD9E0"/>
                </a:solidFill>
              </a:rPr>
              <a:t>with Level-Triggered vs Edge-Triggered Operation, simulated in Logisim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Faculty Guide</a:t>
            </a:r>
            <a:endParaRPr lang="en-US" sz="11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Thanmoya Ghosh Ma'am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9FD9E0"/>
                </a:solidFill>
              </a:rPr>
              <a:t>Section: 4</a:t>
            </a:r>
            <a:endParaRPr lang="en-US" sz="1100" dirty="0"/>
          </a:p>
        </p:txBody>
      </p:sp>
      <p:sp>
        <p:nvSpPr>
          <p:cNvPr id="8" name="Team Panel"/>
          <p:cNvSpPr/>
          <p:nvPr/>
        </p:nvSpPr>
        <p:spPr>
          <a:xfrm>
            <a:off x="5509260" y="576072"/>
            <a:ext cx="3200400" cy="393192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PROJECT TEAM : 14</a:t>
            </a:r>
            <a:endParaRPr lang="en-US" sz="1200" dirty="0"/>
          </a:p>
        </p:txBody>
      </p:sp>
      <p:sp>
        <p:nvSpPr>
          <p:cNvPr id="10" name="Avatar"/>
          <p:cNvSpPr/>
          <p:nvPr/>
        </p:nvSpPr>
        <p:spPr>
          <a:xfrm>
            <a:off x="5760720" y="12618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188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VALLURI YUSHWADEEP REDDY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D9E0"/>
                </a:solidFill>
              </a:rPr>
              <a:t>Roll No: 2620040077</a:t>
            </a:r>
            <a:endParaRPr lang="en-US" sz="1200" dirty="0"/>
          </a:p>
        </p:txBody>
      </p:sp>
      <p:sp>
        <p:nvSpPr>
          <p:cNvPr id="13" name="Avatar"/>
          <p:cNvSpPr/>
          <p:nvPr/>
        </p:nvSpPr>
        <p:spPr>
          <a:xfrm>
            <a:off x="5760720" y="20848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4365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SIRIGIRI NARASIMHA REDDY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D9E0"/>
                </a:solidFill>
              </a:rPr>
              <a:t>Roll No: 2620040086</a:t>
            </a:r>
            <a:endParaRPr lang="en-US" sz="1200" dirty="0"/>
          </a:p>
        </p:txBody>
      </p:sp>
      <p:sp>
        <p:nvSpPr>
          <p:cNvPr id="16" name="Avatar"/>
          <p:cNvSpPr/>
          <p:nvPr/>
        </p:nvSpPr>
        <p:spPr>
          <a:xfrm>
            <a:off x="5760720" y="2907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NUNNA NAMAN VENKAT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D9E0"/>
                </a:solidFill>
              </a:rPr>
              <a:t>Roll No: 2620040105</a:t>
            </a:r>
            <a:endParaRPr lang="en-US" sz="1200" dirty="0"/>
          </a:p>
        </p:txBody>
      </p:sp>
      <p:sp>
        <p:nvSpPr>
          <p:cNvPr id="19" name="Avatar"/>
          <p:cNvSpPr/>
          <p:nvPr/>
        </p:nvSpPr>
        <p:spPr>
          <a:xfrm>
            <a:off x="5760720" y="3730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44529" y="202539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VOONNA SAI BHANUMATHI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D9E0"/>
                </a:solidFill>
              </a:rPr>
              <a:t>Roll No: 2620040169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Intro Card"/>
          <p:cNvSpPr/>
          <p:nvPr/>
        </p:nvSpPr>
        <p:spPr>
          <a:xfrm>
            <a:off x="457200" y="118872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Why memory elements?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Combinational circuits depend only on present inputs; sequential circuits also remember past state.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Latches and flip-flops are the 1-bit memory cells behind registers, counters and RAM.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Objective: design and simulate SR latch, D, JK and T flip-flops in Logisim, and compare level vs edge triggering.</a:t>
            </a:r>
            <a:endParaRPr lang="en-US" sz="1400" dirty="0"/>
          </a:p>
        </p:txBody>
      </p:sp>
      <p:sp>
        <p:nvSpPr>
          <p:cNvPr id="6" name="Item Card"/>
          <p:cNvSpPr/>
          <p:nvPr/>
        </p:nvSpPr>
        <p:spPr>
          <a:xfrm>
            <a:off x="4617720" y="1188720"/>
            <a:ext cx="196596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7" name="Badge"/>
          <p:cNvSpPr/>
          <p:nvPr/>
        </p:nvSpPr>
        <p:spPr>
          <a:xfrm>
            <a:off x="480060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SR Latch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Basic set / reset memory</a:t>
            </a:r>
            <a:endParaRPr lang="en-US" sz="1200" dirty="0"/>
          </a:p>
        </p:txBody>
      </p:sp>
      <p:sp>
        <p:nvSpPr>
          <p:cNvPr id="11" name="Item Card"/>
          <p:cNvSpPr/>
          <p:nvPr/>
        </p:nvSpPr>
        <p:spPr>
          <a:xfrm>
            <a:off x="6675120" y="1188720"/>
            <a:ext cx="196596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12" name="Badge"/>
          <p:cNvSpPr/>
          <p:nvPr/>
        </p:nvSpPr>
        <p:spPr>
          <a:xfrm>
            <a:off x="685800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JK Flip-Flop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Universal, no invalid state</a:t>
            </a:r>
            <a:endParaRPr lang="en-US" sz="1200" dirty="0"/>
          </a:p>
        </p:txBody>
      </p:sp>
      <p:sp>
        <p:nvSpPr>
          <p:cNvPr id="16" name="Item Card"/>
          <p:cNvSpPr/>
          <p:nvPr/>
        </p:nvSpPr>
        <p:spPr>
          <a:xfrm>
            <a:off x="4617720" y="2926080"/>
            <a:ext cx="196596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17" name="Badge"/>
          <p:cNvSpPr/>
          <p:nvPr/>
        </p:nvSpPr>
        <p:spPr>
          <a:xfrm>
            <a:off x="4800600" y="31089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 Flip-Flop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Toggles on every pulse</a:t>
            </a:r>
            <a:endParaRPr lang="en-US" sz="1200" dirty="0"/>
          </a:p>
        </p:txBody>
      </p:sp>
      <p:sp>
        <p:nvSpPr>
          <p:cNvPr id="21" name="Item Card"/>
          <p:cNvSpPr/>
          <p:nvPr/>
        </p:nvSpPr>
        <p:spPr>
          <a:xfrm>
            <a:off x="6675120" y="2926080"/>
            <a:ext cx="1965960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22" name="Badge"/>
          <p:cNvSpPr/>
          <p:nvPr/>
        </p:nvSpPr>
        <p:spPr>
          <a:xfrm>
            <a:off x="6858000" y="31089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 Flip-Flop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Stores the data input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 Latch</a:t>
            </a:r>
            <a:endParaRPr lang="en-US" sz="3600" dirty="0"/>
          </a:p>
        </p:txBody>
      </p:sp>
      <p:sp>
        <p:nvSpPr>
          <p:cNvPr id="3" name="Diagram Card"/>
          <p:cNvSpPr/>
          <p:nvPr/>
        </p:nvSpPr>
        <p:spPr>
          <a:xfrm>
            <a:off x="457200" y="1188720"/>
            <a:ext cx="420624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Cross-coupled NAND gates</a:t>
            </a:r>
            <a:endParaRPr lang="en-US" sz="1600" dirty="0"/>
          </a:p>
        </p:txBody>
      </p:sp>
      <p:sp>
        <p:nvSpPr>
          <p:cNvPr id="5" name="NAND Gate"/>
          <p:cNvSpPr/>
          <p:nvPr/>
        </p:nvSpPr>
        <p:spPr>
          <a:xfrm>
            <a:off x="2103120" y="1737360"/>
            <a:ext cx="914400" cy="731520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0312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NAND</a:t>
            </a:r>
            <a:endParaRPr lang="en-US" sz="1400" dirty="0"/>
          </a:p>
        </p:txBody>
      </p:sp>
      <p:sp>
        <p:nvSpPr>
          <p:cNvPr id="7" name="NAND Gate"/>
          <p:cNvSpPr/>
          <p:nvPr/>
        </p:nvSpPr>
        <p:spPr>
          <a:xfrm>
            <a:off x="2103120" y="3017520"/>
            <a:ext cx="914400" cy="731520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3017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NAND</a:t>
            </a:r>
            <a:endParaRPr lang="en-US" sz="1400" dirty="0"/>
          </a:p>
        </p:txBody>
      </p:sp>
      <p:sp>
        <p:nvSpPr>
          <p:cNvPr id="9" name="Wire"/>
          <p:cNvSpPr/>
          <p:nvPr/>
        </p:nvSpPr>
        <p:spPr>
          <a:xfrm>
            <a:off x="914400" y="1874520"/>
            <a:ext cx="11887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S'</a:t>
            </a:r>
            <a:endParaRPr lang="en-US" sz="1600" dirty="0"/>
          </a:p>
        </p:txBody>
      </p:sp>
      <p:sp>
        <p:nvSpPr>
          <p:cNvPr id="11" name="Wire"/>
          <p:cNvSpPr/>
          <p:nvPr/>
        </p:nvSpPr>
        <p:spPr>
          <a:xfrm>
            <a:off x="914400" y="3611880"/>
            <a:ext cx="11887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R'</a:t>
            </a:r>
            <a:endParaRPr lang="en-US" sz="1600" dirty="0"/>
          </a:p>
        </p:txBody>
      </p:sp>
      <p:sp>
        <p:nvSpPr>
          <p:cNvPr id="13" name="Wire"/>
          <p:cNvSpPr/>
          <p:nvPr/>
        </p:nvSpPr>
        <p:spPr>
          <a:xfrm>
            <a:off x="3017520" y="2103120"/>
            <a:ext cx="100584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69080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</a:t>
            </a:r>
            <a:endParaRPr lang="en-US" sz="1600" dirty="0"/>
          </a:p>
        </p:txBody>
      </p:sp>
      <p:sp>
        <p:nvSpPr>
          <p:cNvPr id="15" name="Wire"/>
          <p:cNvSpPr/>
          <p:nvPr/>
        </p:nvSpPr>
        <p:spPr>
          <a:xfrm>
            <a:off x="3017520" y="3383280"/>
            <a:ext cx="100584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69080" y="3246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Q'</a:t>
            </a:r>
            <a:endParaRPr lang="en-US" sz="1600" dirty="0"/>
          </a:p>
        </p:txBody>
      </p:sp>
      <p:sp>
        <p:nvSpPr>
          <p:cNvPr id="17" name="Wire"/>
          <p:cNvSpPr/>
          <p:nvPr/>
        </p:nvSpPr>
        <p:spPr>
          <a:xfrm>
            <a:off x="3474720" y="2103120"/>
            <a:ext cx="0" cy="73152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8" name="Wire"/>
          <p:cNvSpPr/>
          <p:nvPr/>
        </p:nvSpPr>
        <p:spPr>
          <a:xfrm>
            <a:off x="1737360" y="2834640"/>
            <a:ext cx="173736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9" name="Wire"/>
          <p:cNvSpPr/>
          <p:nvPr/>
        </p:nvSpPr>
        <p:spPr>
          <a:xfrm>
            <a:off x="1737360" y="2834640"/>
            <a:ext cx="0" cy="32004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20" name="Wire"/>
          <p:cNvSpPr/>
          <p:nvPr/>
        </p:nvSpPr>
        <p:spPr>
          <a:xfrm>
            <a:off x="1737360" y="3154680"/>
            <a:ext cx="36576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21" name="Wire"/>
          <p:cNvSpPr/>
          <p:nvPr/>
        </p:nvSpPr>
        <p:spPr>
          <a:xfrm>
            <a:off x="3749040" y="2651760"/>
            <a:ext cx="0" cy="73152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22" name="Wire"/>
          <p:cNvSpPr/>
          <p:nvPr/>
        </p:nvSpPr>
        <p:spPr>
          <a:xfrm>
            <a:off x="1463040" y="2651760"/>
            <a:ext cx="228600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23" name="Wire"/>
          <p:cNvSpPr/>
          <p:nvPr/>
        </p:nvSpPr>
        <p:spPr>
          <a:xfrm>
            <a:off x="1463040" y="2331720"/>
            <a:ext cx="0" cy="32004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24" name="Wire"/>
          <p:cNvSpPr/>
          <p:nvPr/>
        </p:nvSpPr>
        <p:spPr>
          <a:xfrm>
            <a:off x="1463040" y="2331720"/>
            <a:ext cx="6400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25" name="Junction"/>
          <p:cNvSpPr/>
          <p:nvPr/>
        </p:nvSpPr>
        <p:spPr>
          <a:xfrm>
            <a:off x="3429000" y="2057400"/>
            <a:ext cx="91440" cy="9144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6" name="Junction"/>
          <p:cNvSpPr/>
          <p:nvPr/>
        </p:nvSpPr>
        <p:spPr>
          <a:xfrm>
            <a:off x="3703320" y="3337560"/>
            <a:ext cx="91440" cy="9144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graphicFrame>
        <p:nvGraphicFramePr>
          <p:cNvPr id="27" name="Tru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188720"/>
          <a:ext cx="3749040" cy="15544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S'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R'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 next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/ 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Invalid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Reset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Hold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493776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937760" y="32004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cross-coupled NAND gates feed each output back to the other gate.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Active-low inputs: S' = 0 sets, R' = 0 resets. No clock, so it is level-sensitive.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S' = R' = 0 forces both outputs high and is avoided.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Logisim: SR Latch</a:t>
            </a:r>
            <a:endParaRPr lang="en-US" sz="3600" dirty="0"/>
          </a:p>
        </p:txBody>
      </p:sp>
      <p:sp>
        <p:nvSpPr>
          <p:cNvPr id="3" name="Logisim Card"/>
          <p:cNvSpPr/>
          <p:nvPr/>
        </p:nvSpPr>
        <p:spPr>
          <a:xfrm>
            <a:off x="457200" y="1188720"/>
            <a:ext cx="566928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pic>
        <p:nvPicPr>
          <p:cNvPr id="4" name="Image 0" descr="Logisim screenshot of the NAND SR lat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1399032"/>
            <a:ext cx="4014216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55080" y="1188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Working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55448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S' = 0, R' = 1: Q = 1 (set).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S' = 1, R' = 0: Q = 0 (reset).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S' = R' = 1: output holds.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S' = R' = 0: invalid, both outputs 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JK Flip-Flop</a:t>
            </a:r>
            <a:endParaRPr lang="en-US" sz="3600" dirty="0"/>
          </a:p>
        </p:txBody>
      </p:sp>
      <p:sp>
        <p:nvSpPr>
          <p:cNvPr id="3" name="Diagram Card"/>
          <p:cNvSpPr/>
          <p:nvPr/>
        </p:nvSpPr>
        <p:spPr>
          <a:xfrm>
            <a:off x="457200" y="1188720"/>
            <a:ext cx="374904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Symbol (edge-triggered)</a:t>
            </a:r>
            <a:endParaRPr lang="en-US" sz="1600" dirty="0"/>
          </a:p>
        </p:txBody>
      </p:sp>
      <p:sp>
        <p:nvSpPr>
          <p:cNvPr id="5" name="JK Block"/>
          <p:cNvSpPr/>
          <p:nvPr/>
        </p:nvSpPr>
        <p:spPr>
          <a:xfrm>
            <a:off x="1737360" y="1783080"/>
            <a:ext cx="1371600" cy="210312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JK</a:t>
            </a:r>
            <a:endParaRPr lang="en-US" sz="2400" dirty="0"/>
          </a:p>
        </p:txBody>
      </p:sp>
      <p:sp>
        <p:nvSpPr>
          <p:cNvPr id="7" name="Wire"/>
          <p:cNvSpPr/>
          <p:nvPr/>
        </p:nvSpPr>
        <p:spPr>
          <a:xfrm>
            <a:off x="822960" y="2194560"/>
            <a:ext cx="91440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J</a:t>
            </a:r>
            <a:endParaRPr lang="en-US" sz="1600" dirty="0"/>
          </a:p>
        </p:txBody>
      </p:sp>
      <p:sp>
        <p:nvSpPr>
          <p:cNvPr id="9" name="Wire"/>
          <p:cNvSpPr/>
          <p:nvPr/>
        </p:nvSpPr>
        <p:spPr>
          <a:xfrm>
            <a:off x="822960" y="2743200"/>
            <a:ext cx="91440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CLK</a:t>
            </a:r>
            <a:endParaRPr lang="en-US" sz="1600" dirty="0"/>
          </a:p>
        </p:txBody>
      </p:sp>
      <p:sp>
        <p:nvSpPr>
          <p:cNvPr id="11" name="Clock Edge Symbol"/>
          <p:cNvSpPr/>
          <p:nvPr/>
        </p:nvSpPr>
        <p:spPr>
          <a:xfrm rot="5400000">
            <a:off x="1737360" y="2633472"/>
            <a:ext cx="219456" cy="219456"/>
          </a:xfrm>
          <a:prstGeom prst="triangl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Wire"/>
          <p:cNvSpPr/>
          <p:nvPr/>
        </p:nvSpPr>
        <p:spPr>
          <a:xfrm>
            <a:off x="822960" y="3291840"/>
            <a:ext cx="91440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K</a:t>
            </a:r>
            <a:endParaRPr lang="en-US" sz="1600" dirty="0"/>
          </a:p>
        </p:txBody>
      </p:sp>
      <p:sp>
        <p:nvSpPr>
          <p:cNvPr id="14" name="Wire"/>
          <p:cNvSpPr/>
          <p:nvPr/>
        </p:nvSpPr>
        <p:spPr>
          <a:xfrm>
            <a:off x="3108960" y="2194560"/>
            <a:ext cx="7315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5" name="Wire"/>
          <p:cNvSpPr/>
          <p:nvPr/>
        </p:nvSpPr>
        <p:spPr>
          <a:xfrm>
            <a:off x="3108960" y="3474720"/>
            <a:ext cx="7315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3632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Q'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Clock triangle = edge-triggered</a:t>
            </a:r>
            <a:endParaRPr lang="en-US" sz="1200" dirty="0"/>
          </a:p>
        </p:txBody>
      </p:sp>
      <p:graphicFrame>
        <p:nvGraphicFramePr>
          <p:cNvPr id="19" name="Tru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188720"/>
          <a:ext cx="4206240" cy="15544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 next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Hold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Reset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Q'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Toggle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48056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32004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Removes the SR invalid state: J = K = 1 toggles the output.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Characteristic equation: Q next = J·Q' + K'·Q.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Level-triggered JK suffers race-around; edge or master-slave triggering fixes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Logisim: JK Flip-Flop</a:t>
            </a:r>
            <a:endParaRPr lang="en-US" sz="3600" dirty="0"/>
          </a:p>
        </p:txBody>
      </p:sp>
      <p:sp>
        <p:nvSpPr>
          <p:cNvPr id="3" name="Logisim Card"/>
          <p:cNvSpPr/>
          <p:nvPr/>
        </p:nvSpPr>
        <p:spPr>
          <a:xfrm>
            <a:off x="457200" y="1188720"/>
            <a:ext cx="566928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pic>
        <p:nvPicPr>
          <p:cNvPr id="4" name="Image 0" descr="Logisim screenshot of the JK flip-fl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27048"/>
            <a:ext cx="539496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55080" y="1188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Working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55448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Gated NAND circuit with CLOCK, J and K inputs.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 and Q' feed back to the input gates.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 = K = 1 toggles Q while CLOCK = 1, which causes race-around.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Fix: master-slave or edge triggering.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Flip-Flop</a:t>
            </a:r>
            <a:endParaRPr lang="en-US" sz="3600" dirty="0"/>
          </a:p>
        </p:txBody>
      </p:sp>
      <p:graphicFrame>
        <p:nvGraphicFramePr>
          <p:cNvPr id="8" name="Tru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40480" cy="9326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 next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Hold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Q'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Toggle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Idea Card"/>
          <p:cNvSpPr/>
          <p:nvPr/>
        </p:nvSpPr>
        <p:spPr>
          <a:xfrm>
            <a:off x="457200" y="2377440"/>
            <a:ext cx="384048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2487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Built from JK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852928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Tie J and K together and call the input 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Characteristic equation: Q next = T ⊕ Q.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 frequency is half the clock: a divide-by-2 stage.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Chained T stages make binary counters.</a:t>
            </a:r>
            <a:endParaRPr lang="en-US" sz="1400" dirty="0"/>
          </a:p>
        </p:txBody>
      </p:sp>
      <p:sp>
        <p:nvSpPr>
          <p:cNvPr id="7" name="Diagram Card"/>
          <p:cNvSpPr/>
          <p:nvPr/>
        </p:nvSpPr>
        <p:spPr>
          <a:xfrm>
            <a:off x="4572000" y="118872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3" name="Text 5"/>
          <p:cNvSpPr txBox="1"/>
          <p:nvPr/>
        </p:nvSpPr>
        <p:spPr>
          <a:xfrm>
            <a:off x="480060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Symbol (edge-triggered)</a:t>
            </a:r>
            <a:endParaRPr lang="en-US" sz="1600" dirty="0"/>
          </a:p>
        </p:txBody>
      </p:sp>
      <p:sp>
        <p:nvSpPr>
          <p:cNvPr id="9" name="T Block"/>
          <p:cNvSpPr/>
          <p:nvPr/>
        </p:nvSpPr>
        <p:spPr>
          <a:xfrm>
            <a:off x="6126480" y="1920240"/>
            <a:ext cx="1371600" cy="155448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11" name="Wire"/>
          <p:cNvSpPr/>
          <p:nvPr/>
        </p:nvSpPr>
        <p:spPr>
          <a:xfrm>
            <a:off x="5212080" y="2331720"/>
            <a:ext cx="91440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0060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T</a:t>
            </a:r>
            <a:endParaRPr lang="en-US" sz="1600" dirty="0"/>
          </a:p>
        </p:txBody>
      </p:sp>
      <p:sp>
        <p:nvSpPr>
          <p:cNvPr id="13" name="Wire"/>
          <p:cNvSpPr/>
          <p:nvPr/>
        </p:nvSpPr>
        <p:spPr>
          <a:xfrm>
            <a:off x="5212080" y="2880360"/>
            <a:ext cx="91440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CLK</a:t>
            </a:r>
            <a:endParaRPr lang="en-US" sz="1600" dirty="0"/>
          </a:p>
        </p:txBody>
      </p:sp>
      <p:sp>
        <p:nvSpPr>
          <p:cNvPr id="15" name="Clock Edge Symbol"/>
          <p:cNvSpPr/>
          <p:nvPr/>
        </p:nvSpPr>
        <p:spPr>
          <a:xfrm rot="5400000">
            <a:off x="6126480" y="2770632"/>
            <a:ext cx="219456" cy="219456"/>
          </a:xfrm>
          <a:prstGeom prst="triangl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Wire"/>
          <p:cNvSpPr/>
          <p:nvPr/>
        </p:nvSpPr>
        <p:spPr>
          <a:xfrm>
            <a:off x="7498080" y="2331720"/>
            <a:ext cx="7315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7" name="Wire"/>
          <p:cNvSpPr/>
          <p:nvPr/>
        </p:nvSpPr>
        <p:spPr>
          <a:xfrm>
            <a:off x="7498080" y="3063240"/>
            <a:ext cx="7315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0275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302752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Q'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 = 1: toggles on each clock edge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Logisim: T Flip-Flop</a:t>
            </a:r>
            <a:endParaRPr lang="en-US" sz="3600" dirty="0"/>
          </a:p>
        </p:txBody>
      </p:sp>
      <p:sp>
        <p:nvSpPr>
          <p:cNvPr id="3" name="Logisim Card"/>
          <p:cNvSpPr/>
          <p:nvPr/>
        </p:nvSpPr>
        <p:spPr>
          <a:xfrm>
            <a:off x="457200" y="1188720"/>
            <a:ext cx="566928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pic>
        <p:nvPicPr>
          <p:cNvPr id="4" name="Image 0" descr="Logisim screenshot of the T flip-fl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81912"/>
            <a:ext cx="5394960" cy="2642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55080" y="1188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Working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55448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JK circuit with J and K joined as 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 = 0: output holds.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 = 1: output toggles each clock pulse.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Runs at half the clock frequency.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Flip-Flop</a:t>
            </a:r>
            <a:endParaRPr lang="en-US" sz="3600" dirty="0"/>
          </a:p>
        </p:txBody>
      </p:sp>
      <p:sp>
        <p:nvSpPr>
          <p:cNvPr id="3" name="Diagram Card"/>
          <p:cNvSpPr/>
          <p:nvPr/>
        </p:nvSpPr>
        <p:spPr>
          <a:xfrm>
            <a:off x="457200" y="1188720"/>
            <a:ext cx="374904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Symbol (edge-triggered)</a:t>
            </a:r>
            <a:endParaRPr lang="en-US" sz="1600" dirty="0"/>
          </a:p>
        </p:txBody>
      </p:sp>
      <p:sp>
        <p:nvSpPr>
          <p:cNvPr id="5" name="D Block"/>
          <p:cNvSpPr/>
          <p:nvPr/>
        </p:nvSpPr>
        <p:spPr>
          <a:xfrm>
            <a:off x="1737360" y="1920240"/>
            <a:ext cx="1371600" cy="155448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7" name="Wire"/>
          <p:cNvSpPr/>
          <p:nvPr/>
        </p:nvSpPr>
        <p:spPr>
          <a:xfrm>
            <a:off x="822960" y="2331720"/>
            <a:ext cx="91440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D</a:t>
            </a:r>
            <a:endParaRPr lang="en-US" sz="1600" dirty="0"/>
          </a:p>
        </p:txBody>
      </p:sp>
      <p:sp>
        <p:nvSpPr>
          <p:cNvPr id="9" name="Wire"/>
          <p:cNvSpPr/>
          <p:nvPr/>
        </p:nvSpPr>
        <p:spPr>
          <a:xfrm>
            <a:off x="822960" y="2880360"/>
            <a:ext cx="91440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CLK</a:t>
            </a:r>
            <a:endParaRPr lang="en-US" sz="1600" dirty="0"/>
          </a:p>
        </p:txBody>
      </p:sp>
      <p:sp>
        <p:nvSpPr>
          <p:cNvPr id="11" name="Clock Edge Symbol"/>
          <p:cNvSpPr/>
          <p:nvPr/>
        </p:nvSpPr>
        <p:spPr>
          <a:xfrm rot="5400000">
            <a:off x="1737360" y="2770632"/>
            <a:ext cx="219456" cy="219456"/>
          </a:xfrm>
          <a:prstGeom prst="triangl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Wire"/>
          <p:cNvSpPr/>
          <p:nvPr/>
        </p:nvSpPr>
        <p:spPr>
          <a:xfrm>
            <a:off x="3108960" y="2331720"/>
            <a:ext cx="7315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3" name="Wire"/>
          <p:cNvSpPr/>
          <p:nvPr/>
        </p:nvSpPr>
        <p:spPr>
          <a:xfrm>
            <a:off x="3108960" y="3063240"/>
            <a:ext cx="7315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1363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913632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Q'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6"/>
                </a:solidFill>
              </a:rPr>
              <a:t>Q copies D at the clock edge</a:t>
            </a:r>
            <a:endParaRPr lang="en-US" sz="1200" dirty="0"/>
          </a:p>
        </p:txBody>
      </p:sp>
      <p:graphicFrame>
        <p:nvGraphicFramePr>
          <p:cNvPr id="17" name="Tru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188720"/>
          <a:ext cx="4206240" cy="9326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 next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Reset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480560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points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251460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Characteristic equation: Q next = 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Made from an SR design with S = D and R = D' (an inverter), so S = R = 1 never occurs.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Acts as a one-clock delay; the building block of registers and shift registers.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Hold and toggle behaviour need extra gating, so JK and T are used for those.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Logisim: D Flip-Flop</a:t>
            </a:r>
            <a:endParaRPr lang="en-US" sz="3600" dirty="0"/>
          </a:p>
        </p:txBody>
      </p:sp>
      <p:sp>
        <p:nvSpPr>
          <p:cNvPr id="3" name="Logisim Card"/>
          <p:cNvSpPr/>
          <p:nvPr/>
        </p:nvSpPr>
        <p:spPr>
          <a:xfrm>
            <a:off x="457200" y="1188720"/>
            <a:ext cx="566928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pic>
        <p:nvPicPr>
          <p:cNvPr id="4" name="Image 0" descr="Logisim screenshot of the D flip-fl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46504"/>
            <a:ext cx="5394960" cy="23042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55080" y="1188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Working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55448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Inverter gives the gated NAND stage D and D'.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CLOCK = 1: Q follows 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CLOCK = 0: Q holds its last value.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 = R = 1 can never occur.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vs Edge Triggering</a:t>
            </a:r>
            <a:endParaRPr lang="en-US" sz="3600" dirty="0"/>
          </a:p>
        </p:txBody>
      </p:sp>
      <p:sp>
        <p:nvSpPr>
          <p:cNvPr id="3" name="Level-Triggered Card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Level-Triggered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Output follows the inputs for as long as CLK is at its active level.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CLK</a:t>
            </a:r>
            <a:endParaRPr lang="en-US" sz="1200" dirty="0"/>
          </a:p>
        </p:txBody>
      </p:sp>
      <p:sp>
        <p:nvSpPr>
          <p:cNvPr id="7" name="Wire"/>
          <p:cNvSpPr/>
          <p:nvPr/>
        </p:nvSpPr>
        <p:spPr>
          <a:xfrm>
            <a:off x="1097280" y="278892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8" name="Wire"/>
          <p:cNvSpPr/>
          <p:nvPr/>
        </p:nvSpPr>
        <p:spPr>
          <a:xfrm>
            <a:off x="1645920" y="2148840"/>
            <a:ext cx="0" cy="64008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9" name="Wire"/>
          <p:cNvSpPr/>
          <p:nvPr/>
        </p:nvSpPr>
        <p:spPr>
          <a:xfrm>
            <a:off x="1645920" y="214884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10" name="Wire"/>
          <p:cNvSpPr/>
          <p:nvPr/>
        </p:nvSpPr>
        <p:spPr>
          <a:xfrm>
            <a:off x="2194560" y="2148840"/>
            <a:ext cx="0" cy="64008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11" name="Transparent Window"/>
          <p:cNvSpPr/>
          <p:nvPr/>
        </p:nvSpPr>
        <p:spPr>
          <a:xfrm>
            <a:off x="1645920" y="2075688"/>
            <a:ext cx="548640" cy="786384"/>
          </a:xfrm>
          <a:prstGeom prst="rect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>
                <a:alpha val="28000"/>
              </a:schemeClr>
            </a:solidFill>
            <a:prstDash val="solid"/>
          </a:ln>
        </p:spPr>
      </p:sp>
      <p:sp>
        <p:nvSpPr>
          <p:cNvPr id="12" name="Wire"/>
          <p:cNvSpPr/>
          <p:nvPr/>
        </p:nvSpPr>
        <p:spPr>
          <a:xfrm>
            <a:off x="2194560" y="278892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13" name="Wire"/>
          <p:cNvSpPr/>
          <p:nvPr/>
        </p:nvSpPr>
        <p:spPr>
          <a:xfrm>
            <a:off x="2743200" y="2148840"/>
            <a:ext cx="0" cy="64008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14" name="Wire"/>
          <p:cNvSpPr/>
          <p:nvPr/>
        </p:nvSpPr>
        <p:spPr>
          <a:xfrm>
            <a:off x="2743200" y="214884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15" name="Wire"/>
          <p:cNvSpPr/>
          <p:nvPr/>
        </p:nvSpPr>
        <p:spPr>
          <a:xfrm>
            <a:off x="3291840" y="2148840"/>
            <a:ext cx="0" cy="64008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16" name="Transparent Window"/>
          <p:cNvSpPr/>
          <p:nvPr/>
        </p:nvSpPr>
        <p:spPr>
          <a:xfrm>
            <a:off x="2743200" y="2075688"/>
            <a:ext cx="548640" cy="786384"/>
          </a:xfrm>
          <a:prstGeom prst="rect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>
                <a:alpha val="28000"/>
              </a:schemeClr>
            </a:solidFill>
            <a:prstDash val="solid"/>
          </a:ln>
        </p:spPr>
      </p:sp>
      <p:sp>
        <p:nvSpPr>
          <p:cNvPr id="17" name="Wire"/>
          <p:cNvSpPr/>
          <p:nvPr/>
        </p:nvSpPr>
        <p:spPr>
          <a:xfrm>
            <a:off x="3291840" y="278892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18" name="Wire"/>
          <p:cNvSpPr/>
          <p:nvPr/>
        </p:nvSpPr>
        <p:spPr>
          <a:xfrm>
            <a:off x="3840480" y="2148840"/>
            <a:ext cx="0" cy="64008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19" name="Wire"/>
          <p:cNvSpPr/>
          <p:nvPr/>
        </p:nvSpPr>
        <p:spPr>
          <a:xfrm>
            <a:off x="3840480" y="214884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20" name="Transparent Window"/>
          <p:cNvSpPr/>
          <p:nvPr/>
        </p:nvSpPr>
        <p:spPr>
          <a:xfrm>
            <a:off x="3840480" y="2075688"/>
            <a:ext cx="548640" cy="786384"/>
          </a:xfrm>
          <a:prstGeom prst="rect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>
                <a:alpha val="28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611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Shaded: latch is transparent while CLK =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 glitches can pass through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Our Logisim circuits work this way</a:t>
            </a:r>
            <a:endParaRPr lang="en-US" sz="1400" dirty="0"/>
          </a:p>
        </p:txBody>
      </p:sp>
      <p:sp>
        <p:nvSpPr>
          <p:cNvPr id="22" name="Edge-Triggered Card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9204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Edge-Triggered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Output updates only at the instant of a clock transition.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331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CLK</a:t>
            </a:r>
            <a:endParaRPr lang="en-US" sz="1200" dirty="0"/>
          </a:p>
        </p:txBody>
      </p:sp>
      <p:sp>
        <p:nvSpPr>
          <p:cNvPr id="26" name="Wire"/>
          <p:cNvSpPr/>
          <p:nvPr/>
        </p:nvSpPr>
        <p:spPr>
          <a:xfrm>
            <a:off x="5303520" y="278892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27" name="Wire"/>
          <p:cNvSpPr/>
          <p:nvPr/>
        </p:nvSpPr>
        <p:spPr>
          <a:xfrm>
            <a:off x="5852160" y="2148840"/>
            <a:ext cx="0" cy="64008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28" name="Wire"/>
          <p:cNvSpPr/>
          <p:nvPr/>
        </p:nvSpPr>
        <p:spPr>
          <a:xfrm>
            <a:off x="5852160" y="214884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29" name="Wire"/>
          <p:cNvSpPr/>
          <p:nvPr/>
        </p:nvSpPr>
        <p:spPr>
          <a:xfrm>
            <a:off x="6400800" y="2148840"/>
            <a:ext cx="0" cy="64008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30" name="Sampling Point"/>
          <p:cNvSpPr/>
          <p:nvPr/>
        </p:nvSpPr>
        <p:spPr>
          <a:xfrm>
            <a:off x="5769864" y="238658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Wire"/>
          <p:cNvSpPr/>
          <p:nvPr/>
        </p:nvSpPr>
        <p:spPr>
          <a:xfrm>
            <a:off x="6400800" y="278892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32" name="Wire"/>
          <p:cNvSpPr/>
          <p:nvPr/>
        </p:nvSpPr>
        <p:spPr>
          <a:xfrm>
            <a:off x="6949440" y="2148840"/>
            <a:ext cx="0" cy="64008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33" name="Wire"/>
          <p:cNvSpPr/>
          <p:nvPr/>
        </p:nvSpPr>
        <p:spPr>
          <a:xfrm>
            <a:off x="6949440" y="214884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34" name="Wire"/>
          <p:cNvSpPr/>
          <p:nvPr/>
        </p:nvSpPr>
        <p:spPr>
          <a:xfrm>
            <a:off x="7498080" y="2148840"/>
            <a:ext cx="0" cy="64008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35" name="Sampling Point"/>
          <p:cNvSpPr/>
          <p:nvPr/>
        </p:nvSpPr>
        <p:spPr>
          <a:xfrm>
            <a:off x="6867144" y="238658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Wire"/>
          <p:cNvSpPr/>
          <p:nvPr/>
        </p:nvSpPr>
        <p:spPr>
          <a:xfrm>
            <a:off x="7498080" y="278892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37" name="Wire"/>
          <p:cNvSpPr/>
          <p:nvPr/>
        </p:nvSpPr>
        <p:spPr>
          <a:xfrm>
            <a:off x="8046720" y="2148840"/>
            <a:ext cx="0" cy="64008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38" name="Wire"/>
          <p:cNvSpPr/>
          <p:nvPr/>
        </p:nvSpPr>
        <p:spPr>
          <a:xfrm>
            <a:off x="8046720" y="2148840"/>
            <a:ext cx="54864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olid"/>
          </a:ln>
        </p:spPr>
      </p:sp>
      <p:sp>
        <p:nvSpPr>
          <p:cNvPr id="39" name="Sampling Point"/>
          <p:cNvSpPr/>
          <p:nvPr/>
        </p:nvSpPr>
        <p:spPr>
          <a:xfrm>
            <a:off x="7964424" y="238658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92040" y="3611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Orange dot: inputs sampled at the rising edge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Ignores changes between edges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Stable; used in JK, T and D flip-flops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Outcome Card"/>
          <p:cNvSpPr/>
          <p:nvPr/>
        </p:nvSpPr>
        <p:spPr>
          <a:xfrm>
            <a:off x="457200" y="1188720"/>
            <a:ext cx="4023360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Outcomes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SR, D, JK and T designs built and verified in Logisim.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Truth tables matched the simulated outputs.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Level triggering is simple but unstable; edge triggering is reliable.</a:t>
            </a:r>
            <a:endParaRPr lang="en-US" sz="1400" dirty="0"/>
          </a:p>
        </p:txBody>
      </p:sp>
      <p:sp>
        <p:nvSpPr>
          <p:cNvPr id="6" name="Applications Card"/>
          <p:cNvSpPr/>
          <p:nvPr/>
        </p:nvSpPr>
        <p:spPr>
          <a:xfrm>
            <a:off x="4663440" y="1188720"/>
            <a:ext cx="4023360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B1B2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Applications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Registers and shift registers (D)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Counters and frequency dividers (T, JK)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Memory cells, switch debouncing (SR)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State machines in processors</a:t>
            </a:r>
            <a:endParaRPr lang="en-US" sz="1400" dirty="0"/>
          </a:p>
        </p:txBody>
      </p:sp>
      <p:sp>
        <p:nvSpPr>
          <p:cNvPr id="9" name="Improvements Banner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886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Possible improvements:  </a:t>
            </a:r>
            <a:r>
              <a:rPr lang="en-US" sz="1400" dirty="0">
                <a:solidFill>
                  <a:schemeClr val="bg1"/>
                </a:solidFill>
              </a:rPr>
              <a:t>master-slave JK, asynchronous preset / clear, and a 4-bit register or counter built from these cells.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"/>
          <p:cNvSpPr/>
          <p:nvPr/>
        </p:nvSpPr>
        <p:spPr>
          <a:xfrm>
            <a:off x="6035040" y="210312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3" name="Decor Circle 2"/>
          <p:cNvSpPr/>
          <p:nvPr/>
        </p:nvSpPr>
        <p:spPr>
          <a:xfrm>
            <a:off x="-914400" y="-1097280"/>
            <a:ext cx="2560320" cy="2560320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accent2">
                <a:alpha val="1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Faculty: </a:t>
            </a:r>
            <a:r>
              <a:rPr lang="en-US" sz="1600" b="1" dirty="0" err="1">
                <a:solidFill>
                  <a:schemeClr val="bg1"/>
                </a:solidFill>
              </a:rPr>
              <a:t>Tanmoya</a:t>
            </a:r>
            <a:r>
              <a:rPr lang="en-US" sz="1600" b="1" dirty="0">
                <a:solidFill>
                  <a:schemeClr val="bg1"/>
                </a:solidFill>
              </a:rPr>
              <a:t> Ghosh Mam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FD9E0"/>
                </a:solidFill>
              </a:rPr>
              <a:t>Yushwadeep Reddy  ·  Sai Bhanumathi ·  Naman Venkat ·  Narasimha Reddy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Logic">
  <a:themeElements>
    <a:clrScheme name="DigitalLogic">
      <a:dk1>
        <a:srgbClr val="0B1B2B"/>
      </a:dk1>
      <a:lt1>
        <a:srgbClr val="FFFFFF"/>
      </a:lt1>
      <a:dk2>
        <a:srgbClr val="12304A"/>
      </a:dk2>
      <a:lt2>
        <a:srgbClr val="EAF3F8"/>
      </a:lt2>
      <a:accent1>
        <a:srgbClr val="0FA3B1"/>
      </a:accent1>
      <a:accent2>
        <a:srgbClr val="F5A623"/>
      </a:accent2>
      <a:accent3>
        <a:srgbClr val="E4572E"/>
      </a:accent3>
      <a:accent4>
        <a:srgbClr val="6C5CE7"/>
      </a:accent4>
      <a:accent5>
        <a:srgbClr val="2E9E6B"/>
      </a:accent5>
      <a:accent6>
        <a:srgbClr val="5B7083"/>
      </a:accent6>
      <a:hlink>
        <a:srgbClr val="0FA3B1"/>
      </a:hlink>
      <a:folHlink>
        <a:srgbClr val="5B7083"/>
      </a:folHlink>
    </a:clrScheme>
    <a:fontScheme name="DigitalLog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924</Words>
  <Application>Microsoft Office PowerPoint</Application>
  <PresentationFormat>On-screen Show (16:9)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Cambria</vt:lpstr>
      <vt:lpstr>DigitalLogic</vt:lpstr>
      <vt:lpstr>PowerPoint Presentation</vt:lpstr>
      <vt:lpstr>Introduction</vt:lpstr>
      <vt:lpstr>SR Latch</vt:lpstr>
      <vt:lpstr>Logisim: SR Latch</vt:lpstr>
      <vt:lpstr>JK Flip-Flop</vt:lpstr>
      <vt:lpstr>Logisim: JK Flip-Flop</vt:lpstr>
      <vt:lpstr>T Flip-Flop</vt:lpstr>
      <vt:lpstr>Logisim: T Flip-Flop</vt:lpstr>
      <vt:lpstr>D Flip-Flop</vt:lpstr>
      <vt:lpstr>Logisim: D Flip-Flop</vt:lpstr>
      <vt:lpstr>Level vs Edge Triggering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 Latch, D, JK and T Flip-Flops</dc:title>
  <dc:subject>PptxGenJS Presentation</dc:subject>
  <dc:creator>Narasimha Reddy</dc:creator>
  <cp:lastModifiedBy>Narasimha Reddy</cp:lastModifiedBy>
  <cp:revision>3</cp:revision>
  <dcterms:created xsi:type="dcterms:W3CDTF">2026-10-15T15:21:59Z</dcterms:created>
  <dcterms:modified xsi:type="dcterms:W3CDTF">2026-10-15T15:47:35Z</dcterms:modified>
</cp:coreProperties>
</file>